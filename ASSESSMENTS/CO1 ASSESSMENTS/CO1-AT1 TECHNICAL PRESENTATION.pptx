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embeddedFontLst>
    <p:embeddedFont>
      <p:font typeface="Merriweather" panose="00000500000000000000" pitchFamily="2" charset="0"/>
      <p:regular r:id="rId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4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VA SUBRAMANIYAM B" userId="0996986ca1547ca8" providerId="LiveId" clId="{092FDB78-45B5-4DC3-A3F8-42E122CAF2AD}"/>
    <pc:docChg chg="modSld">
      <pc:chgData name="SIVA SUBRAMANIYAM B" userId="0996986ca1547ca8" providerId="LiveId" clId="{092FDB78-45B5-4DC3-A3F8-42E122CAF2AD}" dt="2026-08-02T16:08:30.171" v="15" actId="20577"/>
      <pc:docMkLst>
        <pc:docMk/>
      </pc:docMkLst>
      <pc:sldChg chg="modSp mod">
        <pc:chgData name="SIVA SUBRAMANIYAM B" userId="0996986ca1547ca8" providerId="LiveId" clId="{092FDB78-45B5-4DC3-A3F8-42E122CAF2AD}" dt="2026-08-02T16:08:30.171" v="15" actId="20577"/>
        <pc:sldMkLst>
          <pc:docMk/>
          <pc:sldMk cId="0" sldId="256"/>
        </pc:sldMkLst>
        <pc:spChg chg="mod">
          <ac:chgData name="SIVA SUBRAMANIYAM B" userId="0996986ca1547ca8" providerId="LiveId" clId="{092FDB78-45B5-4DC3-A3F8-42E122CAF2AD}" dt="2026-08-02T16:08:30.171" v="15" actId="20577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8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3.jpeg"/><Relationship Id="rId4" Type="http://schemas.openxmlformats.org/officeDocument/2006/relationships/image" Target="../media/image12.jpe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4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4040" y="1839595"/>
            <a:ext cx="8014335" cy="1000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Times New Roman" panose="02020603050405020304" charset="0"/>
                <a:ea typeface="Merriweather" pitchFamily="34" charset="-122"/>
                <a:cs typeface="Times New Roman" panose="02020603050405020304" charset="0"/>
              </a:rPr>
              <a:t>The Evolution of Operating Systems: From Vacuum Tubes to the Cloud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39874" y="3157984"/>
            <a:ext cx="4635252" cy="9870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200" dirty="0"/>
          </a:p>
        </p:txBody>
      </p:sp>
      <p:sp>
        <p:nvSpPr>
          <p:cNvPr id="5" name="Text Box 4"/>
          <p:cNvSpPr txBox="1"/>
          <p:nvPr/>
        </p:nvSpPr>
        <p:spPr>
          <a:xfrm>
            <a:off x="1105535" y="202565"/>
            <a:ext cx="68961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2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CSA0403-OPERATING SYSTEM   </a:t>
            </a:r>
          </a:p>
          <a:p>
            <a:pPr algn="ctr"/>
            <a:r>
              <a:rPr lang="en-US" altLang="en-GB" sz="2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CO1 - ASSESSMENT 1 </a:t>
            </a:r>
          </a:p>
          <a:p>
            <a:pPr algn="ctr"/>
            <a:r>
              <a:rPr lang="en-US" altLang="en-GB" sz="2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TECHNICAL PRESENTATION 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392430" y="3620135"/>
            <a:ext cx="3268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GUIDED BY :</a:t>
            </a:r>
          </a:p>
          <a:p>
            <a:r>
              <a:rPr lang="en-US" altLang="en-GB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CHARLYN PUSHPA LATHA G </a:t>
            </a:r>
            <a:endParaRPr lang="en-GB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927725" y="3620135"/>
            <a:ext cx="3048000" cy="7346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PRESENTED BY: </a:t>
            </a:r>
          </a:p>
          <a:p>
            <a:r>
              <a:rPr lang="en-US" altLang="en-GB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SIVA SUBRAMANIYAM B  192572089</a:t>
            </a:r>
            <a:endParaRPr lang="en-US" altLang="en-GB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GB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505" y="202565"/>
            <a:ext cx="863600" cy="8572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2430" y="202565"/>
            <a:ext cx="895350" cy="825500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635" y="4830445"/>
            <a:ext cx="10668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6960" y="365760"/>
            <a:ext cx="6745605" cy="4140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Dawn of Computing (1945–1955)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4" y="1886471"/>
            <a:ext cx="3451027" cy="1955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19067" y="1253728"/>
            <a:ext cx="4289747" cy="2070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What it looked like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319067" y="1574750"/>
            <a:ext cx="4289747" cy="591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Room-sized machines built from vacuum tubes and plugboards. Programming was physical: switches, rewiring and operator-controlled job sequences.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319067" y="2280270"/>
            <a:ext cx="4289747" cy="2070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characteristics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319067" y="2601292"/>
            <a:ext cx="4289747" cy="106560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4000"/>
              </a:lnSpc>
              <a:buSzPct val="100000"/>
              <a:buChar char="•"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 operating systems — a single operator ran one job at a time.</a:t>
            </a:r>
            <a:endParaRPr lang="en-US" sz="1000" dirty="0"/>
          </a:p>
          <a:p>
            <a:pPr marL="203200" indent="-203200" algn="l">
              <a:lnSpc>
                <a:spcPct val="124000"/>
              </a:lnSpc>
              <a:buSzPct val="100000"/>
              <a:buChar char="•"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Extremely costly hardware with frequent failures and manual recovery.</a:t>
            </a:r>
            <a:endParaRPr lang="en-US" sz="1000" dirty="0"/>
          </a:p>
          <a:p>
            <a:pPr marL="203200" indent="-203200" algn="l">
              <a:lnSpc>
                <a:spcPct val="124000"/>
              </a:lnSpc>
              <a:buSzPct val="100000"/>
              <a:buChar char="•"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Software and hardware were tightly coupled; every program expected a pristine machine state.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319067" y="3795043"/>
            <a:ext cx="4289747" cy="665559"/>
          </a:xfrm>
          <a:prstGeom prst="roundRect">
            <a:avLst>
              <a:gd name="adj" fmla="val 8366"/>
            </a:avLst>
          </a:prstGeom>
          <a:solidFill>
            <a:srgbClr val="003180"/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1598" y="3987552"/>
            <a:ext cx="165646" cy="13253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49775" y="3930625"/>
            <a:ext cx="3726507" cy="39439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Foundations: These constraints motivated later automation and scheduling features.</a:t>
            </a:r>
            <a:endParaRPr lang="en-US" sz="10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505" y="202565"/>
            <a:ext cx="863600" cy="8572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2430" y="202565"/>
            <a:ext cx="895350" cy="825500"/>
          </a:xfrm>
          <a:prstGeom prst="rect">
            <a:avLst/>
          </a:prstGeom>
          <a:blipFill>
            <a:blip r:embed="rId7"/>
            <a:tile tx="0" ty="0" sx="100000" sy="100000" flip="none" algn="tl"/>
          </a:blipFill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2430" y="4807585"/>
            <a:ext cx="1066800" cy="289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3650" y="328295"/>
            <a:ext cx="6579235" cy="444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Batch Processing to Time‑Sharing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(1955–1980)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4" y="1746424"/>
            <a:ext cx="3858667" cy="17363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6955" y="1821845"/>
            <a:ext cx="675258" cy="1043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Batch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1276955" y="1955877"/>
            <a:ext cx="675258" cy="16035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Job decks run sequentially</a:t>
            </a:r>
            <a:endParaRPr lang="en-US" sz="500" dirty="0"/>
          </a:p>
        </p:txBody>
      </p:sp>
      <p:sp>
        <p:nvSpPr>
          <p:cNvPr id="6" name="Text 3"/>
          <p:cNvSpPr/>
          <p:nvPr/>
        </p:nvSpPr>
        <p:spPr>
          <a:xfrm>
            <a:off x="2130303" y="3071954"/>
            <a:ext cx="678968" cy="20869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Multiprogramming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2130303" y="3310335"/>
            <a:ext cx="678968" cy="16035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Overlap CPU and I/O tasks</a:t>
            </a:r>
            <a:endParaRPr lang="en-US" sz="500" dirty="0"/>
          </a:p>
        </p:txBody>
      </p:sp>
      <p:sp>
        <p:nvSpPr>
          <p:cNvPr id="8" name="Text 5"/>
          <p:cNvSpPr/>
          <p:nvPr/>
        </p:nvSpPr>
        <p:spPr>
          <a:xfrm>
            <a:off x="2957680" y="1808860"/>
            <a:ext cx="675258" cy="1043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Time‑sharing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2957680" y="1942891"/>
            <a:ext cx="675258" cy="16035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Many interactive users share CPU</a:t>
            </a:r>
            <a:endParaRPr lang="en-US" sz="500" dirty="0"/>
          </a:p>
        </p:txBody>
      </p:sp>
      <p:sp>
        <p:nvSpPr>
          <p:cNvPr id="10" name="Text 7"/>
          <p:cNvSpPr/>
          <p:nvPr/>
        </p:nvSpPr>
        <p:spPr>
          <a:xfrm>
            <a:off x="539874" y="3630290"/>
            <a:ext cx="3858667" cy="43725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Visual summary of how systems evolved to use scarce CPU time more efficiently and enable interactive use.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50222" y="1445062"/>
            <a:ext cx="3858667" cy="222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Major advances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791497" y="1758300"/>
            <a:ext cx="3858667" cy="162207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Transistors replaced vacuum tubes — more reliable and compact hardware.</a:t>
            </a:r>
            <a:endParaRPr lang="en-US" sz="1100" dirty="0"/>
          </a:p>
          <a:p>
            <a:pPr marL="223520" indent="-223520" algn="l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Batch systems queued jobs to reduce idle CPU time; operators submitted job decks.</a:t>
            </a:r>
            <a:endParaRPr lang="en-US" sz="1100" dirty="0"/>
          </a:p>
          <a:p>
            <a:pPr marL="223520" indent="-223520" algn="l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Multiprogramming and time‑sharing introduced scheduling, virtual memory and protection, allowing concurrent jobs and multiple users.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50222" y="3470781"/>
            <a:ext cx="3858667" cy="222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Why it mattered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750222" y="3809420"/>
            <a:ext cx="3858667" cy="8745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These innovations created the first true operating-system services: memory management, process scheduling and hardware abstraction — the building blocks of modern OS design.</a:t>
            </a:r>
            <a:endParaRPr lang="en-US" sz="11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505" y="202565"/>
            <a:ext cx="863600" cy="8572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2430" y="202565"/>
            <a:ext cx="895350" cy="825500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2430" y="4852035"/>
            <a:ext cx="10668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7620" y="202565"/>
            <a:ext cx="6739890" cy="9493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Personal and Distributed Revolution (1980–2000)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4" y="1828726"/>
            <a:ext cx="743396" cy="929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70124" y="1828726"/>
            <a:ext cx="1633240" cy="4744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Graphical Interfaces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1470124" y="2392859"/>
            <a:ext cx="1633240" cy="19288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GUIs made computing accessible to non‑specialists. Windowing, icons and mouse input shifted OS design toward responsiveness and usability.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0218" y="1828726"/>
            <a:ext cx="743396" cy="9292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20468" y="1828726"/>
            <a:ext cx="1633240" cy="4744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Networking &amp; Standards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4220468" y="2392859"/>
            <a:ext cx="1633240" cy="19288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Standard protocols (TCP/IP) enabled distributed computing. Operating systems integrated networking stacks, remote file access and basic security models.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0562" y="1828726"/>
            <a:ext cx="743396" cy="9292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70812" y="1828726"/>
            <a:ext cx="1633314" cy="4744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Expanded OS Roles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6970812" y="2392859"/>
            <a:ext cx="1633314" cy="21699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File systems, multitasking, device drivers and user accounts matured — OSes became platforms for diverse applications across personal and enterprise use.</a:t>
            </a:r>
            <a:endParaRPr lang="en-US" sz="115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505" y="202565"/>
            <a:ext cx="863600" cy="8572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2430" y="202565"/>
            <a:ext cx="895350" cy="825500"/>
          </a:xfrm>
          <a:prstGeom prst="rect">
            <a:avLst/>
          </a:prstGeom>
          <a:blipFill>
            <a:blip r:embed="rId8"/>
            <a:tile tx="0" ty="0" sx="100000" sy="100000" flip="none" algn="tl"/>
          </a:blipFill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7510" y="4826000"/>
            <a:ext cx="10668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25500"/>
            <a:ext cx="8064252" cy="3615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Ubiquity, Cloud and the Future (2000–Today)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4" y="1715095"/>
            <a:ext cx="3891037" cy="22048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7852" y="1003920"/>
            <a:ext cx="3891037" cy="1808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Mobile &amp; Embedded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17852" y="1271513"/>
            <a:ext cx="3891037" cy="32399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Mobile OSes (Android, iOS) prioritise power efficiency, real‑time responsiveness and specialised drivers for sensors and radios.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717852" y="1682279"/>
            <a:ext cx="3891037" cy="1808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Cloud &amp; Virtualisation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17852" y="1949872"/>
            <a:ext cx="3891037" cy="4859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Operating systems evolved into lightweight hypervisors, container runtimes and orchestration platforms that abstract hardware across global data centres.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717852" y="2522637"/>
            <a:ext cx="3891037" cy="1808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Today’s role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17852" y="2790230"/>
            <a:ext cx="3891037" cy="103271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Invisible foundation: OS and middleware now seamlessly manage resources for billions of devices.</a:t>
            </a:r>
            <a:endParaRPr lang="en-US" sz="900" dirty="0"/>
          </a:p>
          <a:p>
            <a:pPr marL="182880" indent="-182880" algn="l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Security and isolation are first‑class concerns: sandboxing, permissions and secure boot are standard.</a:t>
            </a:r>
            <a:endParaRPr lang="en-US" sz="900" dirty="0"/>
          </a:p>
          <a:p>
            <a:pPr marL="182880" indent="-182880" algn="l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Edge and serverless computing continue to reshape where and how OS services run.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17852" y="3920505"/>
            <a:ext cx="3891037" cy="699864"/>
          </a:xfrm>
          <a:prstGeom prst="roundRect">
            <a:avLst>
              <a:gd name="adj" fmla="val 6943"/>
            </a:avLst>
          </a:prstGeom>
          <a:solidFill>
            <a:srgbClr val="003180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3491" y="4082876"/>
            <a:ext cx="144587" cy="1156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93717" y="4027438"/>
            <a:ext cx="3399532" cy="4859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Takeaway: From manual control to distributed automation, the OS continually abstracts complexity to let people and services focus on higher‑level problems.</a:t>
            </a:r>
            <a:endParaRPr lang="en-US" sz="9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505" y="202565"/>
            <a:ext cx="863600" cy="8572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2430" y="202565"/>
            <a:ext cx="895350" cy="825500"/>
          </a:xfrm>
          <a:prstGeom prst="rect">
            <a:avLst/>
          </a:prstGeom>
          <a:blipFill>
            <a:blip r:embed="rId7"/>
            <a:tile tx="0" ty="0" sx="100000" sy="100000" flip="none" algn="tl"/>
          </a:blipFill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2430" y="4830445"/>
            <a:ext cx="1066800" cy="2476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472</Words>
  <Application>Microsoft Office PowerPoint</Application>
  <PresentationFormat>On-screen Show (16:9)</PresentationFormat>
  <Paragraphs>53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Times New Roman</vt:lpstr>
      <vt:lpstr>Merriweather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SIVA SUBRAMANIYAM B</cp:lastModifiedBy>
  <cp:revision>2</cp:revision>
  <dcterms:created xsi:type="dcterms:W3CDTF">2026-08-02T13:29:00Z</dcterms:created>
  <dcterms:modified xsi:type="dcterms:W3CDTF">2026-08-02T16:08:38Z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485060D5EDF241519BD6CB4C3E148838_13</vt:lpwstr>
  </property>
  <property fmtid="{D5CDD505-2E9C-101B-9397-08002B2CF9AE}" pid="3" name="KSOProductBuildVer">
    <vt:lpwstr>2057-12.2.0.23206</vt:lpwstr>
  </property>
</Properties>
</file>